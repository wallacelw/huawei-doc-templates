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10" r:id="rId2"/>
    <p:sldMasterId id="2147483913" r:id="rId3"/>
    <p:sldMasterId id="2147483903" r:id="rId4"/>
  </p:sldMasterIdLst>
  <p:notesMasterIdLst>
    <p:notesMasterId r:id="rId11"/>
  </p:notesMasterIdLst>
  <p:handoutMasterIdLst>
    <p:handoutMasterId r:id="rId12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8D0D622-F6C6-F44A-B365-B4A5FF6195C2}">
          <p14:sldIdLst>
            <p14:sldId id="294"/>
          </p14:sldIdLst>
        </p14:section>
        <p14:section name="Contents" id="{9D221634-295C-7843-AF5C-A0CB4F229241}">
          <p14:sldIdLst>
            <p14:sldId id="293"/>
          </p14:sldIdLst>
        </p14:section>
        <p14:section name="Chapter Page" id="{FD05EE94-C931-8C4B-83A2-004B32AA1207}">
          <p14:sldIdLst>
            <p14:sldId id="295"/>
            <p14:sldId id="315"/>
            <p14:sldId id="285"/>
          </p14:sldIdLst>
        </p14:section>
        <p14:section name="Last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596BD1"/>
    <a:srgbClr val="5B71D4"/>
    <a:srgbClr val="E6E6E6"/>
    <a:srgbClr val="DEDEDE"/>
    <a:srgbClr val="CFCFCF"/>
    <a:srgbClr val="000000"/>
    <a:srgbClr val="151515"/>
    <a:srgbClr val="C7000B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6291"/>
  </p:normalViewPr>
  <p:slideViewPr>
    <p:cSldViewPr snapToGrid="0" snapToObjects="1">
      <p:cViewPr varScale="1">
        <p:scale>
          <a:sx n="81" d="100"/>
          <a:sy n="81" d="100"/>
        </p:scale>
        <p:origin x="4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D3-42C4-A136-D69AF27F5295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3-42C4-A136-D69AF27F5295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3-42C4-A136-D69AF27F5295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D3-42C4-A136-D69AF27F5295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D3-42C4-A136-D69AF27F5295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0D3-42C4-A136-D69AF27F5295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D3-42C4-A136-D69AF27F5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789460320"/>
        <c:axId val="789458144"/>
      </c:barChart>
      <c:catAx>
        <c:axId val="789460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9458144"/>
        <c:crosses val="autoZero"/>
        <c:auto val="1"/>
        <c:lblAlgn val="ctr"/>
        <c:lblOffset val="100"/>
        <c:noMultiLvlLbl val="0"/>
      </c:catAx>
      <c:valAx>
        <c:axId val="78945814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8946032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574A3C-DF18-4313-A135-099508AA8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3" t="15108" r="27233" b="28501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21970-0D4B-490B-8C7B-77CFCE54E2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0" y="327660"/>
            <a:ext cx="572625" cy="56686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8D2239F5-4BDB-47B9-884A-3112584812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245" y="5901690"/>
            <a:ext cx="861859" cy="62865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B1C27E3-16C6-463A-B434-45FDCCAFDA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4504" y="327660"/>
            <a:ext cx="2514600" cy="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add text</a:t>
            </a:r>
          </a:p>
        </p:txBody>
      </p:sp>
      <p:cxnSp>
        <p:nvCxnSpPr>
          <p:cNvPr id="5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975" y="1349255"/>
            <a:ext cx="161542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1010869" y="720733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tx1"/>
                </a:solidFill>
                <a:latin typeface="Huawei Sans" panose="020C0503030203020204" pitchFamily="34" charset="0"/>
                <a:ea typeface="Microsoft YaHei" charset="-122"/>
                <a:cs typeface="Huawei Sans" panose="020C0503030203020204" pitchFamily="34" charset="0"/>
              </a:rPr>
              <a:t>Contents</a:t>
            </a:r>
            <a:endParaRPr kumimoji="1" lang="zh-CN" altLang="en-US" sz="3600" dirty="0">
              <a:solidFill>
                <a:schemeClr val="tx1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Huawei Sans Medium" panose="020C0603030203020204" pitchFamily="34" charset="0"/>
                <a:ea typeface="Microsoft YaHei" panose="020B0503020204020204" pitchFamily="34" charset="-122"/>
                <a:cs typeface="Huawei Sans Medium" panose="020C0603030203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600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2pPr>
            <a:lvl3pPr marL="930300" marR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 sz="1299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altLang="zh-CN" dirty="0"/>
              <a:t>Click to add text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537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8" y="106331"/>
            <a:ext cx="10519708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282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31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8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3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3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>
                <a:solidFill>
                  <a:srgbClr val="1D1D1B"/>
                </a:solidFill>
                <a:latin typeface="Huawei Sans" panose="020C0503030203020204" pitchFamily="34" charset="0"/>
                <a:ea typeface="+mn-ea"/>
                <a:cs typeface="Huawei Sans" panose="020C0503030203020204" pitchFamily="34" charset="0"/>
              </a:rPr>
              <a:t>Huawei Confidential</a:t>
            </a:r>
            <a:endParaRPr lang="en-US" sz="900" b="0" kern="1200" baseline="0" dirty="0">
              <a:solidFill>
                <a:srgbClr val="1D1D1B"/>
              </a:solidFill>
              <a:latin typeface="Huawei Sans" panose="020C0503030203020204" pitchFamily="34" charset="0"/>
              <a:ea typeface="+mn-ea"/>
              <a:cs typeface="Huawei Sans" panose="020C05030302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339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Microsoft YaHei" panose="020B0503020204020204" pitchFamily="34" charset="-122"/>
          <a:cs typeface="Huawei Sans" panose="020C0503030203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600" b="1">
                <a:solidFill>
                  <a:srgbClr val="1F2328"/>
                </a:solidFill>
              </a:rPr>
              <a:t>Huawei Cloud O&amp;M Hotline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HCS 8.6.1 | Operations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0">
                <a:solidFill>
                  <a:srgbClr val="E8E8E8"/>
                </a:solidFill>
              </a:rPr>
              <a:t>Module 1 |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Training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1. HCS 8.6.1 Architecture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2. Service Families and Acronyms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3. SR Opening Process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4. TAC Notification and SR Template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5. ITR (Issue To Resolve) Process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6. Escalation Matrix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7. Common O&amp;M Operations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8. Best Practices and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HCS 8.6.1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Management Plane and Data 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HCS (Huawei Cloud Stack) is an on-premise private cloud solution.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Main components: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ManageOne — unified operations platform (O&amp;M)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self-service portal and service catalog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FusionSphere — virtualization (compute, storage, network)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OMBase — operations database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Target version: HCS 8.6.1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Goal: team authoring content starting 09/01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Management Plane vs Data Plane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359"/>
                <a:gridCol w="3434080"/>
                <a:gridCol w="501903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Management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ManageOne, OMBase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O&amp;M, monitoring, billing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Management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ServiceCenter, Catalog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Self-service, provisioning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 — Compute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FusionCompute, ECS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VMs, containers, auto scaling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 — 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FusionStorage, EVS, OBS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Block, object, file 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 — 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network, IP, load balancing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ManageOne is the operations platform — not a cloud service. ServiceCenter is the self-service portal.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Cloud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Families, details, and what the hotline needs to know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Cloud Service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665"/>
                <a:gridCol w="6633057"/>
                <a:gridCol w="171175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Key Services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ECS, IMS, AS, CCE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EVS, OBS, SFS, HBR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ELB, NAT, VPN, DNS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6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Database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RDS, GaussDB, DRS, DDS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Security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Anti-DDoS, WAF, IAM, KMS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The hotline must know the official service name for SR routing. Each family has its own characteristics and common issues — covered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Compute — Services in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Use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 First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ECS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server you rent in the cloud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Web apps, APIs, data processing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 status, quotas, system events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IMS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Image/template to create VMs fast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Repeatable, standardized deployments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Image exists? Correct version?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Adds/removes VMs automatically by demand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Traffic spikes, variable workloads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Scaling policies, min/max instances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CCE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Managed Kubernetes (containers)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Microservices, modern applications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Pod status, ready nodes, quotas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ECS is the most common service — most compute SRs start here. Always confirm: VM name, flavor (CPU/RAM), and current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Storage — Services in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Use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 First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EVS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disk attached to a VM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System and data disks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Capacity, IOPS, attached?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Object storage (S3-like)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Backups, media, static files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AK/SK valid? Bucket exists?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SFS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Shared file system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Files shared across VMs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Mount point, quota, performance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HBR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Hybrid backup and recovery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DR, VM and data backups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Backup ran? Restore tested?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Disk full (&gt;90%) is the most common storage issue. Always check capacity and IOPS before escalating.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Network — Services in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Use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 First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VPC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Isolated private network in the cloud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All cloud resources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Subnets, route tables, SG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EIP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Public IP for external access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Internet-facing services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EIP associated? Reachability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Distributes traffic across servers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High availability, scaling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Health checks, backends healthy?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NAT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Private VMs reach the internet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 without EIP needing internet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NAT rules, gateway active?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VPN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Secure tunnel on-prem to cloud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Hybrid connection, remote access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Tunnel up? Routes correct?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DNS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Name resolution to IPs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All services with names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Zone exists? Records correct?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Network issues almost always involve Security Groups or VPC. Confirm SG (open ports) and route table before escalating.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Database — Services in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Use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 First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Managed relational DB (MySQL, PG)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Apps using standard SQL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Slow log, connections, HA status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GaussDB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Huawei high-performance database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Large scale, OLTP workloads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Performance, sync, connections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DRS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Data replication and migration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DB migration, continuous sync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Sync lag, job status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DDS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Document database (NoSQL)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Apps with flexible schema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Slow queries, indexes, connections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RDS is the most used DB. Common issues: slow queries and connection limits. Always ask for the slow log and active connection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Security — Services in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Use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 First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Anti-DDoS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Protection against denial-of-service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Public-facing exposed services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Abnormal traffic, attack event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WAF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Web application firewall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Websites and web APIs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WAF rules, false positives, logs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IAM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Identity and access management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All services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Policies, roles, permissions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KMS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Encryption key management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Sensitive data, compliance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Key exists? Usage permission?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Never ask for customer credentials. For access issues, check the IAM policy and guide the customer to verify permissions.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Quick Reference — Hotline by Family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0233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First Thing to Check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Escalate When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 status, quotas, system events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Won't boot after basic checks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Capacity, IOPS, disk attachment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Data loss risk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Security Group, EIP, routes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Total connectivity loss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Database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Slow log, connections, HA status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Data corruption or HA failover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Security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IAM policy, WAF rules, traffic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Active attack or total block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This table is your pocket guide. Before escalating any SR, always run through the middle-column checks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Key Acronyms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3268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Acronym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ECS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Cloud Server — scalable virtual server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EVS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Volume Service — elastic block 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VPC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Private Cloud — isolated virtual 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Load Balance — load balancer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Relational Database Service — managed relational DB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Object Storage Service — object 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IAM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Identity &amp; Access Management — identity management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 Request — service ticket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ITR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Issue To Resolve — incident to resolution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TAC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Technical Assistance Center — technical support center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Naming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Rules for resource names in HCS: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VMs: [project]-[role]-[seq]    (e.g: billing-app-01)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Volumes: [vm]-[disk]-[seq]     (e.g: billing-app-disk-01)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VPCs: [region]-[env]-vpc       (e.g: sa-east-1-prod-vpc)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SRs: SR-[year][month][seq]     (e.g: SR-202609-00123)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Validation: always confirm the exact resource name before proceeding.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SR Opening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From customer email to resolution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SR 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64592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Receive SR (customer email)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52160" y="224028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242316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Validate identity and contract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301752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3200400"/>
            <a:ext cx="3657600" cy="41148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Classify severity (S1-S4)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52160" y="379476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3977640"/>
            <a:ext cx="3657600" cy="41148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Send email to TAC Team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457200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475488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Diagnose and resolve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534924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553212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Verify and close SR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TAC Team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MANDATORY: when opening any SR, send an email to the TAC Team using the official SR template.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SR Template (required fields):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SR number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Customer and site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Severity (S1/S2/S3/S4)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Affected service (official name)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Problem description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Business impact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Maintenance window (if applicable)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Responsible contact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Email Reception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Current flow: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Customer sends email -&gt; hotline receives and opens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Future (in transition):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Emails arrive via dedicated mailbox -&gt; automatic triage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Regardless of the intake channel, the process is the same: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Validate requester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Open SR in the system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Notify TAC Team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Assign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Always validate the caller identity against the authorized contact list.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ITR Process (Issue To Resolve)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From triage to closure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ITR Flow with Escalation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Incident Reported</a:t>
            </a:r>
          </a:p>
        </p:txBody>
      </p:sp>
      <p:sp>
        <p:nvSpPr>
          <p:cNvPr id="4" name="Down Arrow 3"/>
          <p:cNvSpPr/>
          <p:nvPr/>
        </p:nvSpPr>
        <p:spPr>
          <a:xfrm>
            <a:off x="2400300" y="2331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L1 Triage</a:t>
            </a:r>
          </a:p>
        </p:txBody>
      </p:sp>
      <p:sp>
        <p:nvSpPr>
          <p:cNvPr id="6" name="Down Arrow 5"/>
          <p:cNvSpPr/>
          <p:nvPr/>
        </p:nvSpPr>
        <p:spPr>
          <a:xfrm>
            <a:off x="2400300" y="3246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3000" y="3474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L1 resolves?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1752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Escalate to L2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315468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600700" y="3474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703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L2 Investigates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00700" y="4389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4343400" y="4617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L2 resolves?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Escalate L3/R&amp;D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470916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5486400"/>
            <a:ext cx="3657600" cy="45720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Resolve &amp; Close ITR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Escalation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449"/>
                <a:gridCol w="2588341"/>
                <a:gridCol w="1553005"/>
                <a:gridCol w="517668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SLA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Escalate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L1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Hotline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15 min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Issue not identified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Specialist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L1 cannot resolve in 30 min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L3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Product Eng.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4h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Bug or complex config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R&amp;D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Development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24h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Confirmed product bug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S1 (critical): escalate immediately to L2 when opening the SR.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Common O&amp;M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Monitoring, issues and solutions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Monitoring and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HCS monitoring tools: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ManageOne Operation — health dashboards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AOM (Application Operations Management) — app metrics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APM (Application Performance Monitoring) — traces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CloudEye — infrastructure monitoring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Common alerts: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CPU &gt; 80% for 5 min -&gt; check workloads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Disk &gt; 90% -&gt; check logs and snapshots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Memory &gt; 85% -&gt; check for leaks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Network latency &gt; 100ms -&gt; check VPC/ELB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Common Issues and Quick Fixes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79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898"/>
                <a:gridCol w="2760898"/>
                <a:gridCol w="517668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Quick Action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VM won't boot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Status: ERROR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quotas, disk, 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Disk full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Alert &gt; 90%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Clean logs, expand EVS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No 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Ping fails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VPC, EIP, SG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 unhealthy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Backend down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health check, port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 slow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Query timeout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slow log, indexes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 403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Access denied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AK/SK, IAM policy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Checklist and resources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Do's and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Never ask for or accept customer credentials. Guide them to self-service.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Always confirm the exact service and resource name before proceeding.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39"/>
            <a:ext cx="10698480" cy="448056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Document every troubleshooting step in the SR for traceability.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Do not apply workarounds in production without an approved maintenance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Use the official SR template when notifying the TAC Team.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Self-Service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Direct customers to: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self-service portal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HCS Documentation — docs.huaweicloud.com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Knowledge Base — troubleshooting articles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Status Page — service status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Forum — technical community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Benefits: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Reduces low-severity SR volume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Customer resolves faster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Hotline focuses on S1/S2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SR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Before closing any SR, validate: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Requester identity confirmed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Official service name identified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Severity correctly classified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TAC Team notified with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Diagnosis documented in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Solution applied and verified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Customer confirmed resolution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SR closed with resolution documented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Lessons learned recorded (if applicable)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Goal: team authoring content starting 09/01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Preparation required: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Review this complete training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Practice opening SRs with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Familiarize with ManageOne and ServiceCenter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Study ITR flows and escalation matrix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5. Know acronyms and service families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Target stack: HCS 8.6.1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Questions? Check the escalation matrix or escalate to L2.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399032"/>
            <a:ext cx="3922776" cy="850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800" b="0">
                <a:solidFill>
                  <a:srgbClr val="1F2328"/>
                </a:solidFill>
                <a:latin typeface="Huawei San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Contents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Last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8211</TotalTime>
  <Words>260</Words>
  <Application>Microsoft Office PowerPoint</Application>
  <PresentationFormat>Custom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Huawei Sans</vt:lpstr>
      <vt:lpstr>Huawei Sans bold</vt:lpstr>
      <vt:lpstr>Huawei Sans Medium</vt:lpstr>
      <vt:lpstr>Microsoft YaHei</vt:lpstr>
      <vt:lpstr>Microsoft YaHei</vt:lpstr>
      <vt:lpstr>方正兰亭黑简体</vt:lpstr>
      <vt:lpstr>Arial</vt:lpstr>
      <vt:lpstr>Calibri</vt:lpstr>
      <vt:lpstr>Calibri Light</vt:lpstr>
      <vt:lpstr>Helvetica</vt:lpstr>
      <vt:lpstr>Trebuchet MS</vt:lpstr>
      <vt:lpstr>1_Title Slide</vt:lpstr>
      <vt:lpstr>Contents</vt:lpstr>
      <vt:lpstr>Chapter Page</vt:lpstr>
      <vt:lpstr>Last Page</vt:lpstr>
      <vt:lpstr>PowerPoint Presentation</vt:lpstr>
      <vt:lpstr>PowerPoint Presentation</vt:lpstr>
      <vt:lpstr>PowerPoint Presentation</vt:lpstr>
      <vt:lpstr>Simple Timeline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Raul Myron Silva Amorim</cp:lastModifiedBy>
  <cp:revision>72</cp:revision>
  <dcterms:created xsi:type="dcterms:W3CDTF">2018-12-05T07:23:25Z</dcterms:created>
  <dcterms:modified xsi:type="dcterms:W3CDTF">2025-10-23T16:46:17Z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(3)TKIRsvJGB1AVwLuiVyVjJkBLlz+Tk4ycwbgcPygMtETI5CubN/+Xj9LD9xU10CvjzR8CSPhf
c7n7OWPwHulUdKGtEhYOyhlQU5QAioiyv0O2gAn5OI0ed3DcyaUHH2wudMcjo/tKeB6kORKB
/iaw+lN1ejzPsVQWC+vFAcz51+Aq85heu+9YHniksqnQSHN6u3oKIxDWLYKgFZLVJ7imEDMs
9JJmSoFskvjpoarCs5</vt:lpwstr>
  </property>
  <property fmtid="{D5CDD505-2E9C-101B-9397-08002B2CF9AE}" pid="3" name="_2015_ms_pID_7253431">
    <vt:lpwstr>1iu2XbqqlQqU/YU99QAol+bhCqese1xDCLmbpAVGE6fLwAq3OL3TbH
dJrp8dS6ujEh0ySRS2XYMxM3iLPOaKVAO7pL6g6FYtAtcP2tR0CzX4NG4QqaAAZP++VJg8dL
XOaV0onr4MNpyxAB7NWv6qCgAzEQLOJCeH3NqEnXvbbmLDLGJfpiTCkiZ+OfUZgRB/i7EJzZ
s3erScYclZ4o/yOjAZhBth6vtz7Fs1Ertjq2</vt:lpwstr>
  </property>
  <property fmtid="{D5CDD505-2E9C-101B-9397-08002B2CF9AE}" pid="4" name="_2015_ms_pID_7253432">
    <vt:lpwstr>Yg==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